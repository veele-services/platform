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aa39df39e44ef" /><Relationship Type="http://schemas.openxmlformats.org/officeDocument/2006/relationships/extended-properties" Target="/docProps/app.xml" Id="R4344c0a26a7d4206" /><Relationship Type="http://schemas.openxmlformats.org/officeDocument/2006/relationships/officeDocument" Target="/ppt/presentation.xml" Id="R2cccf06a5934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13fe0ff7c4e28"/>
  </p:sldMasterIdLst>
  <p:notesMasterIdLst>
    <p:notesMasterId xmlns:r="http://schemas.openxmlformats.org/officeDocument/2006/relationships" r:id="Rfd17dc284742416c"/>
  </p:notesMasterIdLst>
  <p:sldIdLst>
    <p:sldId xmlns:r="http://schemas.openxmlformats.org/officeDocument/2006/relationships" id="256" r:id="R16f4ff9cd1624af8"/>
    <p:sldId xmlns:r="http://schemas.openxmlformats.org/officeDocument/2006/relationships" id="257" r:id="Rafa377f634504f0f"/>
    <p:sldId xmlns:r="http://schemas.openxmlformats.org/officeDocument/2006/relationships" id="258" r:id="R0fcc563fce124935"/>
    <p:sldId xmlns:r="http://schemas.openxmlformats.org/officeDocument/2006/relationships" id="259" r:id="R8baba702c4344ea9"/>
    <p:sldId xmlns:r="http://schemas.openxmlformats.org/officeDocument/2006/relationships" id="260" r:id="R6e3c5dc230284fd5"/>
    <p:sldId xmlns:r="http://schemas.openxmlformats.org/officeDocument/2006/relationships" id="261" r:id="R4087221b6b6d4cef"/>
    <p:sldId xmlns:r="http://schemas.openxmlformats.org/officeDocument/2006/relationships" id="262" r:id="R52c0670b432b4933"/>
    <p:sldId xmlns:r="http://schemas.openxmlformats.org/officeDocument/2006/relationships" id="263" r:id="Rb85f1099aec44676"/>
    <p:sldId xmlns:r="http://schemas.openxmlformats.org/officeDocument/2006/relationships" id="264" r:id="R7522d42a701542f6"/>
    <p:sldId xmlns:r="http://schemas.openxmlformats.org/officeDocument/2006/relationships" id="265" r:id="Ra65db5d5281a43ff"/>
    <p:sldId xmlns:r="http://schemas.openxmlformats.org/officeDocument/2006/relationships" id="266" r:id="R00e99423ef49484e"/>
    <p:sldId xmlns:r="http://schemas.openxmlformats.org/officeDocument/2006/relationships" id="267" r:id="R672beb8340b343a2"/>
    <p:sldId xmlns:r="http://schemas.openxmlformats.org/officeDocument/2006/relationships" id="268" r:id="R2b06315ca95d4dd2"/>
    <p:sldId xmlns:r="http://schemas.openxmlformats.org/officeDocument/2006/relationships" id="269" r:id="Rd24d5a69a4e64c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ff527b054e4822" /><Relationship Type="http://schemas.openxmlformats.org/officeDocument/2006/relationships/slideMaster" Target="/ppt/slideMasters/slideMaster1.xml" Id="R4ae13fe0ff7c4e28" /><Relationship Type="http://schemas.openxmlformats.org/officeDocument/2006/relationships/notesMaster" Target="/ppt/notesMasters/notesMaster1.xml" Id="Rfd17dc284742416c" /><Relationship Type="http://schemas.openxmlformats.org/officeDocument/2006/relationships/presProps" Target="/ppt/presProps.xml" Id="Re58976ce5aaf44af" /><Relationship Type="http://schemas.openxmlformats.org/officeDocument/2006/relationships/tableStyles" Target="/ppt/tableStyles.xml" Id="R019e58fd8fc44a93" /><Relationship Type="http://schemas.openxmlformats.org/officeDocument/2006/relationships/slide" Target="/ppt/slides/slide1.xml" Id="R16f4ff9cd1624af8" /><Relationship Type="http://schemas.openxmlformats.org/officeDocument/2006/relationships/slide" Target="/ppt/slides/slide2.xml" Id="Rafa377f634504f0f" /><Relationship Type="http://schemas.openxmlformats.org/officeDocument/2006/relationships/slide" Target="/ppt/slides/slide3.xml" Id="R0fcc563fce124935" /><Relationship Type="http://schemas.openxmlformats.org/officeDocument/2006/relationships/slide" Target="/ppt/slides/slide4.xml" Id="R8baba702c4344ea9" /><Relationship Type="http://schemas.openxmlformats.org/officeDocument/2006/relationships/slide" Target="/ppt/slides/slide5.xml" Id="R6e3c5dc230284fd5" /><Relationship Type="http://schemas.openxmlformats.org/officeDocument/2006/relationships/slide" Target="/ppt/slides/slide6.xml" Id="R4087221b6b6d4cef" /><Relationship Type="http://schemas.openxmlformats.org/officeDocument/2006/relationships/slide" Target="/ppt/slides/slide7.xml" Id="R52c0670b432b4933" /><Relationship Type="http://schemas.openxmlformats.org/officeDocument/2006/relationships/slide" Target="/ppt/slides/slide8.xml" Id="Rb85f1099aec44676" /><Relationship Type="http://schemas.openxmlformats.org/officeDocument/2006/relationships/slide" Target="/ppt/slides/slide9.xml" Id="R7522d42a701542f6" /><Relationship Type="http://schemas.openxmlformats.org/officeDocument/2006/relationships/slide" Target="/ppt/slides/slide10.xml" Id="Ra65db5d5281a43ff" /><Relationship Type="http://schemas.openxmlformats.org/officeDocument/2006/relationships/slide" Target="/ppt/slides/slide11.xml" Id="R00e99423ef49484e" /><Relationship Type="http://schemas.openxmlformats.org/officeDocument/2006/relationships/slide" Target="/ppt/slides/slide12.xml" Id="R672beb8340b343a2" /><Relationship Type="http://schemas.openxmlformats.org/officeDocument/2006/relationships/slide" Target="/ppt/slides/slide13.xml" Id="R2b06315ca95d4dd2" /><Relationship Type="http://schemas.openxmlformats.org/officeDocument/2006/relationships/slide" Target="/ppt/slides/slide14.xml" Id="Rd24d5a69a4e6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755622159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e33b8da954aa2" /><Relationship Type="http://schemas.openxmlformats.org/officeDocument/2006/relationships/notesMaster" Target="/ppt/notesMasters/notesMaster1.xml" Id="R5bb8934d465549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757da1bf1447c" /><Relationship Type="http://schemas.openxmlformats.org/officeDocument/2006/relationships/notesMaster" Target="/ppt/notesMasters/notesMaster1.xml" Id="Rcff8f9e0abc9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2675ad366a49d6" /><Relationship Type="http://schemas.openxmlformats.org/officeDocument/2006/relationships/notesMaster" Target="/ppt/notesMasters/notesMaster1.xml" Id="R502b815f50f94e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8de565bc94bf4" /><Relationship Type="http://schemas.openxmlformats.org/officeDocument/2006/relationships/notesMaster" Target="/ppt/notesMasters/notesMaster1.xml" Id="R084bb879dca147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17eefa67094994" /><Relationship Type="http://schemas.openxmlformats.org/officeDocument/2006/relationships/notesMaster" Target="/ppt/notesMasters/notesMaster1.xml" Id="R3bb16e1454204c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909d39bd04ac0" /><Relationship Type="http://schemas.openxmlformats.org/officeDocument/2006/relationships/notesMaster" Target="/ppt/notesMasters/notesMaster1.xml" Id="R0f96c15a2d98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9655c8a4c4270" /><Relationship Type="http://schemas.openxmlformats.org/officeDocument/2006/relationships/notesMaster" Target="/ppt/notesMasters/notesMaster1.xml" Id="Rf4853029302c41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30dc6bdf4499f" /><Relationship Type="http://schemas.openxmlformats.org/officeDocument/2006/relationships/notesMaster" Target="/ppt/notesMasters/notesMaster1.xml" Id="Raf83e6140628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d4dfbc36654252" /><Relationship Type="http://schemas.openxmlformats.org/officeDocument/2006/relationships/notesMaster" Target="/ppt/notesMasters/notesMaster1.xml" Id="R943f4eb3596d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c8b93fe4ef4ecf" /><Relationship Type="http://schemas.openxmlformats.org/officeDocument/2006/relationships/notesMaster" Target="/ppt/notesMasters/notesMaster1.xml" Id="R06354724260a44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9e8968450c4ee8" /><Relationship Type="http://schemas.openxmlformats.org/officeDocument/2006/relationships/notesMaster" Target="/ppt/notesMasters/notesMaster1.xml" Id="Rff4cc3c5de2e4e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b26e84fc214a2a" /><Relationship Type="http://schemas.openxmlformats.org/officeDocument/2006/relationships/notesMaster" Target="/ppt/notesMasters/notesMaster1.xml" Id="Rd02aaad2d42240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da76feb4c4492" /><Relationship Type="http://schemas.openxmlformats.org/officeDocument/2006/relationships/notesMaster" Target="/ppt/notesMasters/notesMaster1.xml" Id="R49d2e9eb637049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a53cb1b71946bb" /><Relationship Type="http://schemas.openxmlformats.org/officeDocument/2006/relationships/notesMaster" Target="/ppt/notesMasters/notesMaster1.xml" Id="R7a43c0591667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60d1ea96e4c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35d6d4213e4b04" /><Relationship Type="http://schemas.openxmlformats.org/officeDocument/2006/relationships/slideLayout" Target="/ppt/slideLayouts/slideLayout1.xml" Id="Rea2c6b037c424f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c6b037c424f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7bcdb80ff4f53" /><Relationship Type="http://schemas.openxmlformats.org/officeDocument/2006/relationships/notesSlide" Target="/ppt/notesSlides/notesSlide1.xml" Id="Re4e8264deffe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acea1a1642ac" /><Relationship Type="http://schemas.openxmlformats.org/officeDocument/2006/relationships/notesSlide" Target="/ppt/notesSlides/notesSlide2.xml" Id="R8402aa982bc1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8fdf1476044a3" /><Relationship Type="http://schemas.openxmlformats.org/officeDocument/2006/relationships/notesSlide" Target="/ppt/notesSlides/notesSlide3.xml" Id="Re1c9042fac8f4d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831c94b404edd" /><Relationship Type="http://schemas.openxmlformats.org/officeDocument/2006/relationships/notesSlide" Target="/ppt/notesSlides/notesSlide4.xml" Id="Rdc7f13f17d6843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9b15d4d9342ea" /><Relationship Type="http://schemas.openxmlformats.org/officeDocument/2006/relationships/notesSlide" Target="/ppt/notesSlides/notesSlide5.xml" Id="R5b67609a131d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92984970f4078" /><Relationship Type="http://schemas.openxmlformats.org/officeDocument/2006/relationships/notesSlide" Target="/ppt/notesSlides/notesSlide6.xml" Id="R44efdcaf75ca42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f77bffcd04764" /><Relationship Type="http://schemas.openxmlformats.org/officeDocument/2006/relationships/notesSlide" Target="/ppt/notesSlides/notesSlide7.xml" Id="Rc241c23d5575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b144ae9c8498d" /><Relationship Type="http://schemas.openxmlformats.org/officeDocument/2006/relationships/notesSlide" Target="/ppt/notesSlides/notesSlide8.xml" Id="R62e832b733bb45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fb872d83242eb" /><Relationship Type="http://schemas.openxmlformats.org/officeDocument/2006/relationships/notesSlide" Target="/ppt/notesSlides/notesSlide9.xml" Id="Rca029cede65642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a9e8812874ae3" /><Relationship Type="http://schemas.openxmlformats.org/officeDocument/2006/relationships/notesSlide" Target="/ppt/notesSlides/notesSlide10.xml" Id="Re39939edfbc341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478613206444e" /><Relationship Type="http://schemas.openxmlformats.org/officeDocument/2006/relationships/notesSlide" Target="/ppt/notesSlides/notesSlide11.xml" Id="R9a1925d0cf1b4f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fc6ac362842aa" /><Relationship Type="http://schemas.openxmlformats.org/officeDocument/2006/relationships/notesSlide" Target="/ppt/notesSlides/notesSlide12.xml" Id="Re1cf3c67d24a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8a2d3e5f34cc8" /><Relationship Type="http://schemas.openxmlformats.org/officeDocument/2006/relationships/notesSlide" Target="/ppt/notesSlides/notesSlide13.xml" Id="R82b9d783fd5e44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03733c6d34310" /><Relationship Type="http://schemas.openxmlformats.org/officeDocument/2006/relationships/notesSlide" Target="/ppt/notesSlides/notesSlide14.xml" Id="R96243a6d5acb49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4B220-11DD-44D9-95FE-6C6EAC3F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47434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5F93C-4F71-4740-B3C1-6AF3BF2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A7A"/>
          </a:solidFill>
          <a:ln xmlns:a="http://schemas.openxmlformats.org/drawingml/2006/main" w="9525">
            <a:solidFill>
              <a:srgbClr val="0E4A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97412-CDEB-4C76-98D6-9127C52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65F7B-4EEF-4CE0-957B-F5B9DE6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6F83-B44B-4E6D-8CAF-A5CFCE25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1CAEE-6F61-4386-9417-BC7E6E9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VEELE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0C311-B0DB-4B46-873B-EF9544CF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AF0"/>
                </a:solidFill>
              </a:defRPr>
            </a:pPr>
            <a:r>
              <a:rPr sz="825" b="1">
                <a:solidFill>
                  <a:srgbClr val="BFEAF0"/>
                </a:solidFill>
              </a:rPr>
              <a:t>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113F8-3E1E-41DC-92DB-7536E3FB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Veele Services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C058E-6BE8-47DD-92CA-44099DBC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6F1"/>
                </a:solidFill>
              </a:defRPr>
            </a:pPr>
            <a:r>
              <a:rPr sz="1800" b="0">
                <a:solidFill>
                  <a:srgbClr val="CBE6F1"/>
                </a:solidFill>
              </a:rPr>
              <a:t>Centrale operatie voor klant, object, werkbon, planning, uitvoering, rapportage en betaling.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EA442-18D0-4B5C-946F-2F965C0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7A"/>
          </a:solidFill>
          <a:ln xmlns:a="http://schemas.openxmlformats.org/drawingml/2006/main" w="9525">
            <a:solidFill>
              <a:srgbClr val="0E4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BC9E2-0435-4B86-B350-2D6EAE2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64A"/>
                </a:solidFill>
              </a:defRPr>
            </a:pPr>
            <a:r>
              <a:rPr sz="1125" b="1">
                <a:solidFill>
                  <a:srgbClr val="06264A"/>
                </a:solidFill>
              </a:rPr>
              <a:t>Presentatie v1.0 • juni 2026</a:t>
            </a:r>
          </a:p>
        </p:txBody>
      </p:sp>
    </p:spTree>
    <p:extLst>
      <p:ext uri="{BB962C8B-B14F-4D97-AF65-F5344CB8AC3E}">
        <p14:creationId xmlns:p14="http://schemas.microsoft.com/office/powerpoint/2010/main" val="459033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733F6-AB98-4FB6-9B84-80DE958E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Waarom dit platform bestaat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5A9D-4F77-42AE-B9A9-E2356E6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Van losse communicatie naar één operationele waarheid.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BC798-6C3F-4A31-9CE6-3C6C3335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2/14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B4AA1-433A-4C2B-9296-27DEF420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B8DB4-09EB-438F-8552-096D564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B073-111D-436C-A6E5-3882A67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Voorheen versnipperd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20CA4-483F-4A05-939A-185C3D92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819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Werkbonnen, foto’s, klantvragen, planning, facturen en personeelscommunicatie stonden vaak los van elkaar.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3DBD0-FD9F-4740-81C0-A9E81ADC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7C5F6-A836-4F7B-8C58-4BB2B0F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762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43FCD-15FC-43F8-B940-B6E77F0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09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Nu één proces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3842-DEB6-43D6-BC7C-B5EC2B9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819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Elke stap hangt aan dezelfde klant, hetzelfde object en dezelfde werkbon. Informatie blijft vindbaar en overdraagbaar.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D31B5-2E3C-4AA7-979F-CDD1520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3337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94944-C4F9-47A1-AC6A-F4573704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7620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E8CCD-4B41-4128-854D-953A524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Meer grip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90334-8096-4B9F-9370-DFE4CD1C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819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Management, planning, administratie, personeel en klanten werken elk in hun eigen omgeving, maar op dezelfde basisdata.</a:t>
            </a:r>
          </a:p>
        </p:txBody>
      </p:sp>
    </p:spTree>
    <p:extLst>
      <p:ext uri="{BB962C8B-B14F-4D97-AF65-F5344CB8AC3E}">
        <p14:creationId xmlns:p14="http://schemas.microsoft.com/office/powerpoint/2010/main" val="421521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57D82-EB7F-4464-8148-9AC06BE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De werkbon is de spil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722F6-F584-45B4-8BFB-DC1B6F5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Alles begint en eindigt bij de opdracht of werkbon.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482BF-7ADA-440E-B905-C898E6C0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3/14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C3AE4-921B-4BEB-9634-65D3530B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CE3AD-5D9D-4FD8-BE3A-B109C478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Klant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C2A68-2DBE-4043-A9FF-89250F1D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72EB9-71A3-48F1-A862-D032DA2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BDB01-9425-4F68-A9F4-4517B0A2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805F1-BC46-4EF8-BFEC-E8AE313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EE660-9388-48DE-9C27-8D6E3A79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0A336-1B34-4C42-A5CF-7F9D3F5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Aanvraag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AF070-82C2-49B5-9DD1-F8522694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B0A48-84D3-445D-BAFD-4BB6FC5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87027-73A8-4329-8AED-3DC4329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Werkbon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CB6CB-625D-40EE-925F-105818F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87EBF-1499-42E0-9AAC-36EA2634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10E8C-DB30-4019-9092-F6044F4B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4617B-8311-4B7E-89CE-D1B7916B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938FB-9701-427B-8F74-3DC70D7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310E3-A7C2-4E4F-BAA4-0B160A5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Uitvoering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4A352-6FE3-4A85-807C-E4F7B59F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47D6A-17AE-4EFD-9116-E2DDC34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C2394-7F33-4885-9E95-EA8A0D94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Rapportage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A06B3-2563-4C41-B3AD-03CD20A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86F19-C3B6-47A9-B092-F1FE8DB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B24FEA-50CC-4B51-AE59-8C2F440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Factuur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E55FC-2064-45DC-B50E-935307EE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38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8B5E2-4AA2-4211-8FD2-FC90C4F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09875"/>
            <a:ext cx="1123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FA7814-6F21-4A78-B1E5-CB0F2A6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575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1733"/>
                </a:solidFill>
              </a:defRPr>
            </a:pPr>
            <a:r>
              <a:rPr sz="1275" b="1">
                <a:solidFill>
                  <a:srgbClr val="0A1733"/>
                </a:solidFill>
              </a:rPr>
              <a:t>Betaling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DAF25-FBDB-4355-AE0C-C1B418BE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A1733"/>
                </a:solidFill>
              </a:defRPr>
            </a:pPr>
            <a:r>
              <a:rPr sz="1800" b="0">
                <a:solidFill>
                  <a:srgbClr val="0A1733"/>
                </a:solidFill>
              </a:rPr>
              <a:t>Elke wijziging, notitie, foto, taak, medewerker en factuur blijft gekoppeld aan dezelfde keten.</a:t>
            </a:r>
          </a:p>
        </p:txBody>
      </p:sp>
    </p:spTree>
    <p:extLst>
      <p:ext uri="{BB962C8B-B14F-4D97-AF65-F5344CB8AC3E}">
        <p14:creationId xmlns:p14="http://schemas.microsoft.com/office/powerpoint/2010/main" val="260594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F856E-8F72-4266-B34A-7C4D93BD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Drie omgevingen, één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4B088-E23D-4742-8D52-90DAFFE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Iedere gebruiker krijgt precies de omgeving die bij het werk past.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98228-3CA6-42CE-84F8-1696F82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4/14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569AE-388D-4A2A-B913-070E527F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333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EEF0-DE0A-4DE5-B6C9-4D68604B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AE28-C72D-487F-A761-0705247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Backoffice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DB4BF-E5CB-41B7-A856-D5FCD0D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Voor management, planning en administratie. Klanten, objecten, opdrachten, personeel, planning, rapportage, facturen en instellingen.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53D6A-C2E7-4E6B-8F75-3DA8602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BEB91-A438-469B-8722-F81C144F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3907D-21A2-4EA8-B8E4-A5FA019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95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Personeelsapp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8AFD8-D227-451C-B535-ED7C7E2A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9555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Voor medewerkers op locatie. Planning, werkbonnen, taken, rapportage, foto’s, meerwerk, materiaal, uren, verlof en meldingen.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61B3C-7033-4A43-A20A-565F0159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333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EE878-A6ED-49C5-BA7D-A9EA85F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3E775-F886-4F72-85BB-E5B21A3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Klantportaal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41986-4CAA-4020-B3EF-869BA3A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19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Voor opdrachtgevers. Objecten, aanvragen, offertes, opdrachtstatus, rapportages, facturen, betalingen, documenten en tickets.</a:t>
            </a:r>
          </a:p>
        </p:txBody>
      </p:sp>
    </p:spTree>
    <p:extLst>
      <p:ext uri="{BB962C8B-B14F-4D97-AF65-F5344CB8AC3E}">
        <p14:creationId xmlns:p14="http://schemas.microsoft.com/office/powerpoint/2010/main" val="979344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3D4B9-AF09-4EBC-8D3A-22C96E61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Wat de backoffice nu 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D08CF-1FEB-4605-900D-097F4A3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Het centrale bedieningspaneel voor Veele Services.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368B1-C7FA-41CE-A92F-73DF05E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5/14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2FD97-768C-41BD-B3D6-4A74D68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479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5FC46-B2BD-49FE-ACDC-86BFCFFC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B8B1"/>
                </a:solidFill>
              </a:defRPr>
            </a:pPr>
            <a:r>
              <a:rPr sz="2550" b="1">
                <a:solidFill>
                  <a:srgbClr val="14B8B1"/>
                </a:solidFill>
              </a:rPr>
              <a:t>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18789-13A9-4878-8A32-43A13FC9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Klanten, contacten, objecten, historie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B827B-1284-4174-AC17-5775B0F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22479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D8965-E1E7-4A8E-98AE-A6181A0D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3564"/>
                </a:solidFill>
              </a:defRPr>
            </a:pPr>
            <a:r>
              <a:rPr sz="2550" b="1">
                <a:solidFill>
                  <a:srgbClr val="0A3564"/>
                </a:solidFill>
              </a:rPr>
              <a:t>Planbord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50E4-1654-4F00-98DB-973EDA8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Werkbonnen en medewerkers in één beeld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C958D-C110-4058-84B8-1608F17C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09750"/>
            <a:ext cx="22479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FCF98-C46E-4646-AF1F-0390CC98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574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</a:defRPr>
            </a:pPr>
            <a:r>
              <a:rPr sz="2550" b="1">
                <a:solidFill>
                  <a:srgbClr val="22C55E"/>
                </a:solidFill>
              </a:rPr>
              <a:t>Finance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06BBB-ED49-4D00-BFDC-C0E21C6A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146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Offertes, facturen, batches, betalingen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AB990-A874-40C7-B097-324B0FEC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22479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4EC24-7669-4AC8-BB9F-44D2172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BCB55-AC8C-4321-B8B2-F932CC4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Rapportages, tickets, documenten, auditlog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8D70B-47AA-4854-B113-C31B514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47E29-687C-4775-8728-ECFA217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CE79E-B511-4EB4-8AD9-DD35369F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Dagelijks beheer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0B9D9-E951-4358-88A7-0F00F41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030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Nieuwe klanten, objecten en opdrachten worden hier ingericht. Planning beoordeelt capaciteit, administratie verwerkt facturen en management ziet operationele signalen.</a:t>
            </a:r>
          </a:p>
        </p:txBody>
      </p:sp>
    </p:spTree>
    <p:extLst>
      <p:ext uri="{BB962C8B-B14F-4D97-AF65-F5344CB8AC3E}">
        <p14:creationId xmlns:p14="http://schemas.microsoft.com/office/powerpoint/2010/main" val="2012257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085A6-44E8-4E14-84C1-2E4CC94B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Wat de personeelsapp nu 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82B57-DEEB-4AAB-AABE-A22A59A6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Mobiel werken met duidelijke werkbonnen en snelle acties.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B2824-1C95-4958-BC47-67327A2A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6/14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43708-ED37-470F-BC71-C3A9068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7B70C-BF63-418E-8632-EBACC28C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B2319-B717-4467-ABF8-0C32EDF1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Mijn 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0D836-F807-4AFA-8161-456160D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Werkbonnen, tijden, object en locatiegegevens.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9DD42-E3DD-4AFD-BA64-7A9F671C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953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2D293-225E-43C8-B6FE-3B7FE941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0D7EE-334C-4F63-86DA-BD9F5A01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Werkbon uitvoeren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CE44-71B2-49FE-ABDB-5DD9751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Gezien, starten, taken afvinken, afronden of afmelden.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1430F-2ED7-413B-AA4B-7430FE97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C722A-8174-4060-AF6E-B34D44D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CBC79-0152-4D8E-B2BA-A01B71C7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Rapportage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F6E00-A1F5-4970-8376-CC3FB28A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Notities met datum/tijd, foto/video, meerwerk en materiaal.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002F3-2AC5-4EFB-8272-0A75D81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4953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D3EA3-28A7-45AD-A4F7-F0C59AA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A720F-3D08-468B-A957-34970A54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Mijn profiel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A11E3-5FB9-4028-AEC7-F60F6FBA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86225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Beschikbaarheid, verlof, uren, documenten, meldingen en beveiliging.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7869B-2F00-4480-8E89-94A888CE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095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9525">
            <a:solidFill>
              <a:srgbClr val="E6FF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7C46A-7616-47FC-9E4E-3837E0FB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64A"/>
                </a:solidFill>
              </a:defRPr>
            </a:pPr>
            <a:r>
              <a:rPr sz="1125" b="1">
                <a:solidFill>
                  <a:srgbClr val="06264A"/>
                </a:solidFill>
              </a:rPr>
              <a:t>Realtime, push en offline-basis zijn voorbereid</a:t>
            </a:r>
          </a:p>
        </p:txBody>
      </p:sp>
    </p:spTree>
    <p:extLst>
      <p:ext uri="{BB962C8B-B14F-4D97-AF65-F5344CB8AC3E}">
        <p14:creationId xmlns:p14="http://schemas.microsoft.com/office/powerpoint/2010/main" val="1467806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42C32-879D-44D0-AA40-A343519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Wat het klantportaal nu 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27375-58BF-4B29-AA62-8F1FEBE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Klanten krijgen inzicht zonder interne informatie te zien.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8189-0DAC-4085-B7E3-CC2C6C8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7/14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21D7B-5811-468F-BF92-B6D70BD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93B05-A936-4542-82E6-ECF6ACA8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5A9BE-B0A4-444B-A2F7-51F416C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Objecten en aanvragen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09F8B-CE3F-4E21-A6F2-EEDC702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Klanten beheren hun locaties en dienen nieuwe opdrachten in per object en sector.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01680-C35F-41BD-8826-69EF523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F18B-9682-4A07-BD5A-A1F3430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4CF74-DACA-4EB1-921D-33575E1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Offertes en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6BC95-A9BD-4A40-98AC-4DBD5EEA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1935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Klanten volgen de voortgang en kunnen prijsopgaven beoordelen.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0980E-B78A-4DDF-B2AA-BCA394F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55AF4-9872-40EC-BBB2-9276D88F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374B-BC24-4D5B-A655-346FE6BA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Rapporten en facturen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60B12-3E13-4E0E-993A-819A3D0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Rapportages, documenten, facturen, verzamelfacturen en betalingen staan overzichtelijk bij elkaar.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A5C3D-92F1-4EA3-93DC-0E5F893B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A7F2B-C7AE-4C57-821A-C4BD199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CD8F4-48EB-4CD9-8130-3E165835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0530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Tickets en meldingen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58936-CA6C-4A6F-B167-7F51FD1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05350"/>
            <a:ext cx="653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Vragen en meldingen worden gestructureerd opgevolgd, gekoppeld aan klant, object of opdracht.</a:t>
            </a:r>
          </a:p>
        </p:txBody>
      </p:sp>
    </p:spTree>
    <p:extLst>
      <p:ext uri="{BB962C8B-B14F-4D97-AF65-F5344CB8AC3E}">
        <p14:creationId xmlns:p14="http://schemas.microsoft.com/office/powerpoint/2010/main" val="595422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F4DD7-A693-4869-9FFC-AFF4AA09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Slim plannen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1499-0515-4AC0-B965-32922FB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Het systeem adviseert, planning beslist.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8B136-A78F-4686-9E79-371E0954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8/14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DD021-719F-4B5B-9FC0-4E6B2481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7682D-7683-48C7-9324-31176868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9F8CA-DFAC-4704-9FC4-F341FC80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Capaciteitscheck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3DA17-C112-4D7D-8F0F-0542BDB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Bij een aanvraag wordt zichtbaar hoeveel medewerkers nodig, geschikt en beschikbaar zijn.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98BD6-22D7-4C5A-B22B-7D4F0E7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A15C4-58F4-4342-B640-EE7A5518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92DD3-F624-4A31-924F-CF982BB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716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Matchscore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925B7-DD9D-4280-BC16-A7E0B72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71725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Medewerkers worden uitlegbaar beoordeeld op beschikbaarheid, sector, regio, ervaring, certificaten en werkbelasting.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C1628-7C30-4C9E-B9CA-ABCC8B6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62125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1DE6A-16EB-4EC8-87EB-47D41E0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621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4BA4D-2C3D-4438-8F70-372D6829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716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Interessepeiling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0C379-0AE6-4291-8582-FFE1008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Planning kan topmatches uitnodigen. Medewerkers tonen interesse, weigeren of stellen een vraag.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0594D-ECE9-4CDB-A662-6B84FC1F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9105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A1733"/>
                </a:solidFill>
              </a:defRPr>
            </a:pPr>
            <a:r>
              <a:rPr sz="2250" b="1">
                <a:solidFill>
                  <a:srgbClr val="0A1733"/>
                </a:solidFill>
              </a:rPr>
              <a:t>Geen automatische black box: de planner houdt controle, maar krijgt veel sneller een betrouwbaar voorstel.</a:t>
            </a:r>
          </a:p>
        </p:txBody>
      </p:sp>
    </p:spTree>
    <p:extLst>
      <p:ext uri="{BB962C8B-B14F-4D97-AF65-F5344CB8AC3E}">
        <p14:creationId xmlns:p14="http://schemas.microsoft.com/office/powerpoint/2010/main" val="61605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84FAC-219E-407D-958C-7DD86E4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Communicatie zonder ruis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3D755-5A21-4A2B-9866-8599E7C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Meldingen, tickets, nieuws en berichten blijven gekoppeld aan de juiste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04ED-23A7-425D-BFCD-A80E268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9/14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6537C-49BB-4B7C-B818-D21BE01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7AF02-D622-403C-8F63-7BA08DD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392B2-D8EE-4885-B832-8B7178F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Tickets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9BF77-47BB-43B2-90A0-66448E27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Klantgericht, personeelgericht of intern. Te starten vanuit klant, object of opdracht.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C25A7-1AE8-41A2-9D4B-99AA7625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88F85-C534-4573-A603-91CD00B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1A92-AB99-4773-AC25-ABC82D3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Notificaties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0881B-3AA8-4444-8B99-B9A4690B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In-app, e-mail en push zijn voorbereid met doelgroepen, prioriteit en sjablonen.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45E84-D60F-4C0D-8C9E-6AFCAC9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BBE52-C561-40F4-B06D-2A4200EC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96A6D-5DDE-4427-9F5E-6AAB26FF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Nieuws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76B3C-2589-43AF-84D1-E56044C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Interne berichten en aankondigingen voor personeel of specifieke groepen.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4E72A-4338-4C5F-919F-818DF0D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4953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EA738-1044-4148-949E-A110574C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4C21A-C5D0-405A-9734-F4568C4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671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Managementsignalen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14D2C-3292-4765-A531-D113E0F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67225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Acties en risico’s zoals rapportagecontrole, spoedopdrachten of verlopen certificaten.</a:t>
            </a:r>
          </a:p>
        </p:txBody>
      </p:sp>
    </p:spTree>
    <p:extLst>
      <p:ext uri="{BB962C8B-B14F-4D97-AF65-F5344CB8AC3E}">
        <p14:creationId xmlns:p14="http://schemas.microsoft.com/office/powerpoint/2010/main" val="467339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29171-AAC9-455A-8FC5-5A09447F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Rapportage, finance en documenten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811EE-1E60-4854-9296-1FAAF5B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De operatie wordt aantoonbaar en factureerbaar.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5EC42-42E0-4826-9251-1A0F642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10/14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E016-846E-4008-986D-5F045C7C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66E8D-D6B1-49AD-B158-D9C8629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9070-1C83-4AA5-9DB0-22B0A2DA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Rapportage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20163-4373-4853-ACB3-003FF31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Taken, notities, foto’s, video’s, meerwerk en materiaal worden aan de werkbon gekoppeld.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CBF90-B2E2-4113-8CEB-92B0335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C2BF1-ED6A-4F11-B933-F655BC2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F26D3-70E9-415C-9F6F-307C7F1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Facturatie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3E965-8AD1-4CDC-8156-ADC8D7A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Factuurvoorstellen, losse facturen, verzamelfacturen, btw, PDF’s en Mollie-betalingen.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8A07B-9FE4-436C-8642-A43065B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0A59A-ECCF-4078-B6B9-9908AF5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9CA77-1AD6-4D77-B579-E100705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Documenten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60D92-7B05-46AF-B32A-E21A1148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724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Bestanden bij klant, object, opdracht of personeel. Klanten en medewerkers zien alleen wat voor hen bedoeld 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9C94-5318-496D-9C43-9AC34A91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9525">
            <a:solidFill>
              <a:srgbClr val="E6FF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EE394-CEF1-4921-9662-BD564B0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29175"/>
            <a:ext cx="556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64A"/>
                </a:solidFill>
              </a:defRPr>
            </a:pPr>
            <a:r>
              <a:rPr sz="1125" b="1">
                <a:solidFill>
                  <a:srgbClr val="06264A"/>
                </a:solidFill>
              </a:rPr>
              <a:t>Klantgerichte rapportages tonen Veele Services als uitvoerder</a:t>
            </a:r>
          </a:p>
        </p:txBody>
      </p:sp>
    </p:spTree>
    <p:extLst>
      <p:ext uri="{BB962C8B-B14F-4D97-AF65-F5344CB8AC3E}">
        <p14:creationId xmlns:p14="http://schemas.microsoft.com/office/powerpoint/2010/main" val="2076736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28D94-FBA2-4FA1-999C-D4A0251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Veiligheid en grip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98609-7FA5-4DEA-88AC-613315B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Toegang is rolgericht en gegevens blijven afgeschermd.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DE531-10ED-48CF-A5CA-5ECF541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11/14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7BED8-F163-4AFA-8628-3404EC6A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BAA3D-B386-4278-9335-F7931FC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F475F-DECD-4B93-BF6B-543EF1A6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Klanten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8C2D-F6D9-4E0A-AAB5-3AF0F8D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Zien alleen hun eigen objecten, opdrachten, facturen, rapportages, documenten en tickets.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C2457-D388-4DA1-9DB8-7FD66E4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57375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82E4B-9A2D-4865-9A73-11ECF6B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57375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17386-436F-4A45-973D-336D3B2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66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Medewerkers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DFCE4-12AA-4C08-9AEF-DC0B178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669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Zien eigen planning, eigen werkbonnen, eigen documenten en passende open opdrachten.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93ACD-7BC7-4692-B3B0-C28B66B0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3333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C2FAB-ABCC-40BD-8DC7-EB439FC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DCCC3-A290-4068-80BD-CB643F2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66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Backoffice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CDC9B-D3BA-47D4-9C5B-BBA01E42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669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Werkt met rollen, rechten en activiteitsoverzicht voor belangrijke acties.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C44A3-51BE-4D46-B263-5413F53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1733"/>
                </a:solidFill>
              </a:defRPr>
            </a:pPr>
            <a:r>
              <a:rPr sz="2100" b="1">
                <a:solidFill>
                  <a:srgbClr val="0A1733"/>
                </a:solidFill>
              </a:rPr>
              <a:t>Interne notities blijven intern. Klanten krijgen professionele, klantgerichte informatie.</a:t>
            </a:r>
          </a:p>
        </p:txBody>
      </p:sp>
    </p:spTree>
    <p:extLst>
      <p:ext uri="{BB962C8B-B14F-4D97-AF65-F5344CB8AC3E}">
        <p14:creationId xmlns:p14="http://schemas.microsoft.com/office/powerpoint/2010/main" val="313363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D04C7-3C41-4E48-BA70-BEF0AC9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Wat nog komt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6395B-CA0B-465B-B7CB-8BBCC41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De basis staat; de volgende fase draait om volwassen gebruik en integraties.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3B079-2DF1-4F6B-AB2F-9BEEDF17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12/14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B7BF7-C22A-4525-A51C-D44FBDDF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B7867-B711-4846-A20B-3F37ECF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D1C4E-69D4-4AD2-ABC7-27886E8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Acceptatie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A4F36-9FB6-4B1F-AF23-96DF4965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438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Volledige stagingtest met echte rollen en scenario’s: aanvraag, offerte, planning, uitvoering, rapportage, factuur en betaling.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2F003-7D46-48DE-A357-857DFC9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62125"/>
            <a:ext cx="4953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A8BF-2FF1-4C87-B889-C27999B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621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564"/>
          </a:solidFill>
          <a:ln xmlns:a="http://schemas.openxmlformats.org/drawingml/2006/main" w="9525">
            <a:solidFill>
              <a:srgbClr val="0A35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CB5ED-BFA9-4C14-AD45-19D577E4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716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Realtime &amp;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C81EC-8ACD-45EC-9E81-1492CF1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71725"/>
            <a:ext cx="4438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Realtime planning verder valideren en offline acties robuust testen bij slechte mobiele verbinding.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F3FB1-4178-4BDF-AEBF-3183964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37FD3-699C-4C84-A115-52211A6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A1124-A815-4E71-96D1-6D8E055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Native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04554-6957-4329-BA23-EC7E3B1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438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Capacitor en FCM afronden wanneer de personeelsapp als echte Android/iOS-app wordt uitgerold.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AD8D0-6117-4901-81DD-78AEB93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49530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8BBDA-FA54-47C9-993D-B52EB1D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74191-C299-485F-B4BB-CEBD019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33"/>
                </a:solidFill>
              </a:defRPr>
            </a:pPr>
            <a:r>
              <a:rPr sz="1650" b="1">
                <a:solidFill>
                  <a:srgbClr val="0A1733"/>
                </a:solidFill>
              </a:rPr>
              <a:t>Verdieping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1368A-99C4-4978-BDC0-1E80CBF5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438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Financiële randgevallen, boekhoudkoppeling, QR/NFC, WhatsApp Business, AI-planningsadvies en voorraadbeheer.</a:t>
            </a:r>
          </a:p>
        </p:txBody>
      </p:sp>
    </p:spTree>
    <p:extLst>
      <p:ext uri="{BB962C8B-B14F-4D97-AF65-F5344CB8AC3E}">
        <p14:creationId xmlns:p14="http://schemas.microsoft.com/office/powerpoint/2010/main" val="19502861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790AB-4D01-4B49-B9D4-9E1F9D3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33"/>
                </a:solidFill>
              </a:defRPr>
            </a:pPr>
            <a:r>
              <a:rPr sz="2850" b="1">
                <a:solidFill>
                  <a:srgbClr val="0A1733"/>
                </a:solidFill>
              </a:rPr>
              <a:t>Huidige volwassenheid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63C29-1C52-49B5-B380-42064923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Een realistisch beeld van waar het platform nu staat.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90A2E-2409-492B-BFBF-BC1C17B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Veele Services Platform  •  13/14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06F0E-9BA3-42A7-B511-78D5D0D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1BE65-F559-434C-89A4-E4F4CF0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D447A-B3DA-45D8-8A31-5FBF20EE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811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Backoffice kernprocessen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24F29-3A3A-4231-A718-10B3B53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Breed aanwezig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B2EC5-38F4-44F7-BFE2-39F318D2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1B37F-D32C-4A78-BE25-7512FD4E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5292D-383D-4794-9D88-80AF97D9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0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Personeelsapp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B0523-1F04-419A-997D-E198A0A9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Functionele basis + mobile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5B0B8-FB77-4A10-ACED-2F8C28F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29031-61AA-4951-BEAC-5DF3A73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EB6D8-E9C3-483E-9116-E016722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Klantportaal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D7568-763F-48F2-B55C-22A5E65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Breed aanwezig, desktop verder verfijnd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50D3D-514B-4CAD-837C-8341581F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9320B-30C5-4D89-B93F-38E521A8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48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3305D-3C3E-4634-BC89-B4F50B8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38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Slim plannen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5DA96-080E-4FBD-B9D3-4FFDB6C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Semi-automatische advieslaag aanwezig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63536-5206-479F-84A6-7B30DD0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9E934-6844-4B8F-A762-9739BAD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3CCE-F918-4CD7-AAC7-199E465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57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Notificaties/workers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56754-DE49-4AB5-99E0-D8C8784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Basis aanwezig, serveroperatie valideren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FD82F-5651-40BF-9048-EF7B5541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8CC7F-21C2-4CE6-8E37-D4D0018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90491-5B85-4A42-8C28-F77E905E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7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33"/>
                </a:solidFill>
              </a:defRPr>
            </a:pPr>
            <a:r>
              <a:rPr sz="1350" b="1">
                <a:solidFill>
                  <a:srgbClr val="0A1733"/>
                </a:solidFill>
              </a:rPr>
              <a:t>Native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44F54-28F9-4235-A0A7-30B6A46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Voorbereid, uitrol later</a:t>
            </a:r>
          </a:p>
        </p:txBody>
      </p:sp>
    </p:spTree>
    <p:extLst>
      <p:ext uri="{BB962C8B-B14F-4D97-AF65-F5344CB8AC3E}">
        <p14:creationId xmlns:p14="http://schemas.microsoft.com/office/powerpoint/2010/main" val="893023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26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A8C8B-BFB1-45AF-AC76-FFF4E394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B1"/>
          </a:solidFill>
          <a:ln xmlns:a="http://schemas.openxmlformats.org/drawingml/2006/main" w="9525">
            <a:solidFill>
              <a:srgbClr val="14B8B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03CBC-CE37-4EC1-BBD0-11563870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52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9D590-C515-4A7F-AA83-5596BA68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VEELE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1EF79-2573-465B-A91E-DED838E4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FEAF0"/>
                </a:solidFill>
              </a:defRPr>
            </a:pPr>
            <a:r>
              <a:rPr sz="825" b="1">
                <a:solidFill>
                  <a:srgbClr val="BFEAF0"/>
                </a:solidFill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6DD8E-B641-42FD-934C-89344E60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Eén partner.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Eén standaard.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Totale zorg.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61F00-18FE-4F1E-8E62-4260E0F3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6F1"/>
                </a:solidFill>
              </a:defRPr>
            </a:pPr>
            <a:r>
              <a:rPr sz="1800" b="0">
                <a:solidFill>
                  <a:srgbClr val="CBE6F1"/>
                </a:solidFill>
              </a:rPr>
              <a:t>Het Veele Services Platform maakt de operatie zichtbaar, planbaar, uitvoerbaar en factureerbaar — van aanvraag tot betaling.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6A086-F30D-4331-A4E0-62D92DA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524125" cy="252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A7A"/>
          </a:solidFill>
          <a:ln xmlns:a="http://schemas.openxmlformats.org/drawingml/2006/main" w="9525">
            <a:solidFill>
              <a:srgbClr val="0E4A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518CE-3207-4DA8-B637-418ED8F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14B8B1"/>
                </a:solidFill>
              </a:defRPr>
            </a:pPr>
            <a:r>
              <a:rPr sz="8400" b="1">
                <a:solidFill>
                  <a:srgbClr val="14B8B1"/>
                </a:solidFill>
              </a:rPr>
              <a:t>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1FA5B-198A-4090-AD7E-A305AAD7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Platform v1.0</a:t>
            </a:r>
          </a:p>
        </p:txBody>
      </p:sp>
    </p:spTree>
    <p:extLst>
      <p:ext uri="{BB962C8B-B14F-4D97-AF65-F5344CB8AC3E}">
        <p14:creationId xmlns:p14="http://schemas.microsoft.com/office/powerpoint/2010/main" val="1931114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2026-06-23T01:14:13.0030000Z</dcterms:created>
  <dcterms:modified xsi:type="dcterms:W3CDTF">2026-06-23T01:14:13.0030000Z</dcterms:modified>
</coreProperties>
</file>